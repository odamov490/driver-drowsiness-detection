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6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embeddedFontLst>
    <p:embeddedFont>
      <p:font typeface="Raleway" panose="020B0503030101060003" pitchFamily="34" charset="0"/>
      <p:regular r:id="rId14"/>
      <p:bold r:id="rId15"/>
    </p:embeddedFont>
    <p:embeddedFont>
      <p:font typeface="Raleway" panose="020B0503030101060003" pitchFamily="34" charset="-122"/>
      <p:regular r:id="rId16"/>
      <p:bold r:id="rId17"/>
    </p:embeddedFont>
    <p:embeddedFont>
      <p:font typeface="Raleway" panose="020B0503030101060003" pitchFamily="34" charset="-120"/>
      <p:regular r:id="rId18"/>
      <p:bold r:id="rId19"/>
    </p:embeddedFont>
    <p:embeddedFont>
      <p:font typeface="Roboto" panose="02000000000000000000" pitchFamily="34" charset="0"/>
      <p:regular r:id="rId20"/>
      <p:bold r:id="rId21"/>
      <p:italic r:id="rId22"/>
      <p:boldItalic r:id="rId23"/>
    </p:embeddedFont>
    <p:embeddedFont>
      <p:font typeface="Roboto" panose="02000000000000000000" pitchFamily="34" charset="-122"/>
      <p:regular r:id="rId24"/>
      <p:bold r:id="rId25"/>
      <p:italic r:id="rId26"/>
      <p:boldItalic r:id="rId27"/>
    </p:embeddedFont>
    <p:embeddedFont>
      <p:font typeface="Roboto" panose="02000000000000000000" pitchFamily="34" charset="-120"/>
      <p:regular r:id="rId28"/>
      <p:bold r:id="rId29"/>
      <p:italic r:id="rId30"/>
      <p:boldItalic r:id="rId31"/>
    </p:embeddedFont>
    <p:embeddedFont>
      <p:font typeface="Roboto Bold" panose="02000000000000000000" pitchFamily="34" charset="0"/>
      <p:bold r:id="rId32"/>
    </p:embeddedFont>
    <p:embeddedFont>
      <p:font typeface="Roboto Bold" panose="02000000000000000000" pitchFamily="34" charset="-122"/>
      <p:bold r:id="rId33"/>
    </p:embeddedFont>
    <p:embeddedFont>
      <p:font typeface="Roboto Bold" panose="02000000000000000000" pitchFamily="34" charset="-120"/>
      <p:bold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5.fntdata"/><Relationship Id="rId37" Type="http://schemas.openxmlformats.org/officeDocument/2006/relationships/font" Target="fonts/font24.fntdata"/><Relationship Id="rId36" Type="http://schemas.openxmlformats.org/officeDocument/2006/relationships/font" Target="fonts/font23.fntdata"/><Relationship Id="rId35" Type="http://schemas.openxmlformats.org/officeDocument/2006/relationships/font" Target="fonts/font22.fntdata"/><Relationship Id="rId34" Type="http://schemas.openxmlformats.org/officeDocument/2006/relationships/font" Target="fonts/font21.fntdata"/><Relationship Id="rId33" Type="http://schemas.openxmlformats.org/officeDocument/2006/relationships/font" Target="fonts/font20.fntdata"/><Relationship Id="rId32" Type="http://schemas.openxmlformats.org/officeDocument/2006/relationships/font" Target="fonts/font19.fntdata"/><Relationship Id="rId31" Type="http://schemas.openxmlformats.org/officeDocument/2006/relationships/font" Target="fonts/font18.fntdata"/><Relationship Id="rId30" Type="http://schemas.openxmlformats.org/officeDocument/2006/relationships/font" Target="fonts/font17.fntdata"/><Relationship Id="rId3" Type="http://schemas.openxmlformats.org/officeDocument/2006/relationships/slide" Target="slides/slide1.xml"/><Relationship Id="rId29" Type="http://schemas.openxmlformats.org/officeDocument/2006/relationships/font" Target="fonts/font16.fntdata"/><Relationship Id="rId28" Type="http://schemas.openxmlformats.org/officeDocument/2006/relationships/font" Target="fonts/font15.fntdata"/><Relationship Id="rId27" Type="http://schemas.openxmlformats.org/officeDocument/2006/relationships/font" Target="fonts/font14.fntdata"/><Relationship Id="rId26" Type="http://schemas.openxmlformats.org/officeDocument/2006/relationships/font" Target="fonts/font13.fntdata"/><Relationship Id="rId25" Type="http://schemas.openxmlformats.org/officeDocument/2006/relationships/font" Target="fonts/font12.fntdata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1126"/>
            <a:ext cx="815176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Driver Drowsiness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1546696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EfficientNetB0 + FastKAN · Multi-Class Image Classification · Capstone Project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15641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06822" y="2100411"/>
            <a:ext cx="4948610" cy="2131963"/>
          </a:xfrm>
          <a:prstGeom prst="roundRect">
            <a:avLst>
              <a:gd name="adj" fmla="val 4189"/>
            </a:avLst>
          </a:prstGeom>
          <a:solidFill>
            <a:srgbClr val="16A34A">
              <a:alpha val="9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30796" y="2224385"/>
            <a:ext cx="470066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542208"/>
            <a:ext cx="470066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computer-vision system that classifies a driver's face into four distinct alertness states in real time — supporting driver-monitoring systems and road safety applications.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796" y="3277121"/>
            <a:ext cx="892522" cy="188565"/>
          </a:xfrm>
          <a:prstGeom prst="roundRect">
            <a:avLst>
              <a:gd name="adj" fmla="val 22104"/>
            </a:avLst>
          </a:prstGeom>
          <a:solidFill>
            <a:srgbClr val="1F1F2D"/>
          </a:solidFill>
        </p:spPr>
      </p:sp>
      <p:sp>
        <p:nvSpPr>
          <p:cNvPr id="9" name="Text 7"/>
          <p:cNvSpPr/>
          <p:nvPr/>
        </p:nvSpPr>
        <p:spPr>
          <a:xfrm>
            <a:off x="605210" y="3314328"/>
            <a:ext cx="1200894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● MODEL READY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485305" y="3277121"/>
            <a:ext cx="1011510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9719" y="3314328"/>
            <a:ext cx="1319882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COMPUTER VISION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573464" y="2224385"/>
            <a:ext cx="307910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3464" y="2542208"/>
            <a:ext cx="3079105" cy="508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Gulomjon Odamov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Capstone Defense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3464" y="3221236"/>
            <a:ext cx="3079105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573464" y="3406006"/>
            <a:ext cx="307910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3464" y="3723829"/>
            <a:ext cx="307910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EfficientNetB0 backbone with FastKAN classification head, trained end-to-end on driver face imagery.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4497"/>
            <a:ext cx="1154906" cy="153144"/>
          </a:xfrm>
          <a:prstGeom prst="roundRect">
            <a:avLst>
              <a:gd name="adj" fmla="val 22113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56543" y="414710"/>
            <a:ext cx="1491258" cy="927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01 — PROBLEM STATEMENT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70384"/>
            <a:ext cx="8151763" cy="3149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The Problem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008087"/>
            <a:ext cx="8151763" cy="2921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Driver drowsiness is a leading cause of road accidents worldwide. This system takes a single face image and predicts whether the driver is alert or exhibiting signs of drowsiness — designed for integration into driver-monitoring and road safety platforms.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1474217"/>
            <a:ext cx="3952949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System Context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23802"/>
            <a:ext cx="3952949" cy="6154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8313" y="1838846"/>
            <a:ext cx="3665711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User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68313" y="2078162"/>
            <a:ext cx="3665711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Driver-monitoring &amp; safety systems requiring real-time alertness classification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21136"/>
            <a:ext cx="3952949" cy="61547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8313" y="2536180"/>
            <a:ext cx="3665711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ML Task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68313" y="2775496"/>
            <a:ext cx="3665711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Multi-class image classification — one face image in, one alertness class out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699695" y="1474217"/>
            <a:ext cx="3952949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Four Alertness Classes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99695" y="1723802"/>
            <a:ext cx="3952949" cy="2943076"/>
          </a:xfrm>
          <a:prstGeom prst="roundRect">
            <a:avLst>
              <a:gd name="adj" fmla="val 143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4457" y="1728564"/>
            <a:ext cx="3943424" cy="671959"/>
          </a:xfrm>
          <a:custGeom>
            <a:avLst/>
            <a:gdLst/>
            <a:ahLst/>
            <a:cxnLst/>
            <a:rect l="l" t="t" r="r" b="b"/>
            <a:pathLst>
              <a:path w="3943424" h="671959">
                <a:moveTo>
                  <a:pt x="35276" y="0"/>
                </a:moveTo>
                <a:lnTo>
                  <a:pt x="3908149" y="0"/>
                </a:lnTo>
                <a:arcTo wR="35276" hR="35276" stAng="16200000" swAng="5400000"/>
                <a:lnTo>
                  <a:pt x="3943424" y="671959"/>
                </a:lnTo>
                <a:lnTo>
                  <a:pt x="0" y="671959"/>
                </a:lnTo>
                <a:lnTo>
                  <a:pt x="0" y="35276"/>
                </a:lnTo>
                <a:arcTo wR="35276" hR="35276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16" name="Text 12"/>
          <p:cNvSpPr/>
          <p:nvPr/>
        </p:nvSpPr>
        <p:spPr>
          <a:xfrm>
            <a:off x="4786313" y="1810420"/>
            <a:ext cx="3779713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notdrowsy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786313" y="2049735"/>
            <a:ext cx="3779713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Driver is alert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4704457" y="2400523"/>
            <a:ext cx="3943424" cy="794817"/>
          </a:xfrm>
          <a:prstGeom prst="rect">
            <a:avLst/>
          </a:prstGeom>
          <a:solidFill>
            <a:srgbClr val="E1E1EA"/>
          </a:solidFill>
        </p:spPr>
      </p:sp>
      <p:sp>
        <p:nvSpPr>
          <p:cNvPr id="19" name="Shape 15"/>
          <p:cNvSpPr/>
          <p:nvPr/>
        </p:nvSpPr>
        <p:spPr>
          <a:xfrm>
            <a:off x="4704457" y="2400523"/>
            <a:ext cx="3943424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</p:spPr>
      </p:sp>
      <p:sp>
        <p:nvSpPr>
          <p:cNvPr id="20" name="Shape 16"/>
          <p:cNvSpPr/>
          <p:nvPr/>
        </p:nvSpPr>
        <p:spPr>
          <a:xfrm>
            <a:off x="6550149" y="2281684"/>
            <a:ext cx="251966" cy="251966"/>
          </a:xfrm>
          <a:prstGeom prst="roundRect">
            <a:avLst>
              <a:gd name="adj" fmla="val 16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3103" y="2344638"/>
            <a:ext cx="125983" cy="12598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86313" y="2605236"/>
            <a:ext cx="3779713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sleepyCombination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786313" y="2844552"/>
            <a:ext cx="3779713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Sleepy state detected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4704457" y="3195340"/>
            <a:ext cx="3943424" cy="794817"/>
          </a:xfrm>
          <a:prstGeom prst="rect">
            <a:avLst/>
          </a:prstGeom>
          <a:solidFill>
            <a:srgbClr val="E1E1EA"/>
          </a:solidFill>
        </p:spPr>
      </p:sp>
      <p:sp>
        <p:nvSpPr>
          <p:cNvPr id="25" name="Shape 20"/>
          <p:cNvSpPr/>
          <p:nvPr/>
        </p:nvSpPr>
        <p:spPr>
          <a:xfrm>
            <a:off x="4704457" y="3195340"/>
            <a:ext cx="3943424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</p:spPr>
      </p:sp>
      <p:sp>
        <p:nvSpPr>
          <p:cNvPr id="26" name="Shape 21"/>
          <p:cNvSpPr/>
          <p:nvPr/>
        </p:nvSpPr>
        <p:spPr>
          <a:xfrm>
            <a:off x="6550149" y="3076501"/>
            <a:ext cx="251966" cy="251966"/>
          </a:xfrm>
          <a:prstGeom prst="roundRect">
            <a:avLst>
              <a:gd name="adj" fmla="val 16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3103" y="3139455"/>
            <a:ext cx="125983" cy="12598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86313" y="3400053"/>
            <a:ext cx="3779713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slowBlinkWithNodding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4786313" y="3639369"/>
            <a:ext cx="3779713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Slow blink / nodding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4704457" y="3990156"/>
            <a:ext cx="3943424" cy="671959"/>
          </a:xfrm>
          <a:custGeom>
            <a:avLst/>
            <a:gdLst/>
            <a:ahLst/>
            <a:cxnLst/>
            <a:rect l="l" t="t" r="r" b="b"/>
            <a:pathLst>
              <a:path w="3943424" h="671959">
                <a:moveTo>
                  <a:pt x="0" y="0"/>
                </a:moveTo>
                <a:lnTo>
                  <a:pt x="3943424" y="0"/>
                </a:lnTo>
                <a:lnTo>
                  <a:pt x="3943424" y="636683"/>
                </a:lnTo>
                <a:arcTo wR="35276" hR="35276" stAng="0" swAng="5400000"/>
                <a:lnTo>
                  <a:pt x="35276" y="671959"/>
                </a:lnTo>
                <a:arcTo wR="35276" hR="3527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31" name="Shape 25"/>
          <p:cNvSpPr/>
          <p:nvPr/>
        </p:nvSpPr>
        <p:spPr>
          <a:xfrm>
            <a:off x="4704457" y="3990156"/>
            <a:ext cx="3943424" cy="14288"/>
          </a:xfrm>
          <a:prstGeom prst="roundRect">
            <a:avLst>
              <a:gd name="adj" fmla="val 49998"/>
            </a:avLst>
          </a:prstGeom>
          <a:solidFill>
            <a:srgbClr val="C7C7D0"/>
          </a:solidFill>
        </p:spPr>
      </p:sp>
      <p:sp>
        <p:nvSpPr>
          <p:cNvPr id="32" name="Shape 26"/>
          <p:cNvSpPr/>
          <p:nvPr/>
        </p:nvSpPr>
        <p:spPr>
          <a:xfrm>
            <a:off x="6550149" y="3871317"/>
            <a:ext cx="251966" cy="251966"/>
          </a:xfrm>
          <a:prstGeom prst="roundRect">
            <a:avLst>
              <a:gd name="adj" fmla="val 1680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3103" y="3934271"/>
            <a:ext cx="125983" cy="12598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786313" y="4194870"/>
            <a:ext cx="3779713" cy="157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yawning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4786313" y="4434185"/>
            <a:ext cx="3779713" cy="1460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Yawning detected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573509" cy="94283"/>
          </a:xfrm>
          <a:prstGeom prst="roundRect">
            <a:avLst>
              <a:gd name="adj" fmla="val 22103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33326" y="359718"/>
            <a:ext cx="956295" cy="570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02 — DATA &amp; METHOD</a:t>
            </a:r>
            <a:endParaRPr lang="en-US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47749"/>
            <a:ext cx="81517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719063"/>
            <a:ext cx="4056534" cy="204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66,521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6119" y="977950"/>
            <a:ext cx="4056534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Labeled Images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96119" y="1093440"/>
            <a:ext cx="405653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NTHU-DDD dataset, near-infrared driver face imagery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4591348" y="719063"/>
            <a:ext cx="4056534" cy="204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1348" y="977950"/>
            <a:ext cx="4056534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Classes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91348" y="1093440"/>
            <a:ext cx="405653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notdrowsy, sleepyCombination, slowBlinkWithNodding, yawning</a:t>
            </a:r>
            <a:endParaRPr lang="en-US" sz="450" dirty="0"/>
          </a:p>
        </p:txBody>
      </p:sp>
      <p:sp>
        <p:nvSpPr>
          <p:cNvPr id="11" name="Text 9"/>
          <p:cNvSpPr/>
          <p:nvPr/>
        </p:nvSpPr>
        <p:spPr>
          <a:xfrm>
            <a:off x="496119" y="1260723"/>
            <a:ext cx="4056534" cy="204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119" y="1519610"/>
            <a:ext cx="4056534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Training Epochs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96119" y="1635100"/>
            <a:ext cx="405653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End-to-end fine-tuning with class-weighted loss</a:t>
            </a:r>
            <a:endParaRPr lang="en-US" sz="450" dirty="0"/>
          </a:p>
        </p:txBody>
      </p:sp>
      <p:sp>
        <p:nvSpPr>
          <p:cNvPr id="14" name="Text 12"/>
          <p:cNvSpPr/>
          <p:nvPr/>
        </p:nvSpPr>
        <p:spPr>
          <a:xfrm>
            <a:off x="4591348" y="1260723"/>
            <a:ext cx="4056534" cy="2047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9,979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1348" y="1519610"/>
            <a:ext cx="4056534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Test Images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91348" y="1635100"/>
            <a:ext cx="4056534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Held-out set for final evaluation</a:t>
            </a:r>
            <a:endParaRPr lang="en-US" sz="450" dirty="0"/>
          </a:p>
        </p:txBody>
      </p:sp>
      <p:sp>
        <p:nvSpPr>
          <p:cNvPr id="17" name="Text 15"/>
          <p:cNvSpPr/>
          <p:nvPr/>
        </p:nvSpPr>
        <p:spPr>
          <a:xfrm>
            <a:off x="496119" y="1755949"/>
            <a:ext cx="8151763" cy="968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Inference Pipeline</a:t>
            </a:r>
            <a:endParaRPr lang="en-US" sz="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99345"/>
            <a:ext cx="8151763" cy="366824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24067" y="2095787"/>
            <a:ext cx="1426538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Input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724067" y="2378940"/>
            <a:ext cx="1426538" cy="2645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Face image from dataset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134929" y="4846968"/>
            <a:ext cx="1434376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134929" y="5130121"/>
            <a:ext cx="1434376" cy="264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Resize to 224×224 and normalize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30115" y="2068354"/>
            <a:ext cx="1426538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30115" y="2351506"/>
            <a:ext cx="1426538" cy="26453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EfficientNetB0 + FastKAN forward pass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0977" y="4846968"/>
            <a:ext cx="1426539" cy="220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Output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940977" y="5130121"/>
            <a:ext cx="1426539" cy="264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Class label and confidence score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6119" y="5602412"/>
            <a:ext cx="8608963" cy="74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Class imbalance is handled once via a class-weighted loss function during training — no double correction applied.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7669"/>
            <a:ext cx="650230" cy="156046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57733" y="428476"/>
            <a:ext cx="984200" cy="94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03 — RESULTS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87722"/>
            <a:ext cx="8151763" cy="320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Results on the Held-Out Test 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2151" y="1036216"/>
            <a:ext cx="3258220" cy="3709541"/>
          </a:xfrm>
          <a:prstGeom prst="roundRect">
            <a:avLst>
              <a:gd name="adj" fmla="val 2270"/>
            </a:avLst>
          </a:prstGeom>
          <a:solidFill>
            <a:srgbClr val="16A34A">
              <a:alpha val="9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24842" y="1121271"/>
            <a:ext cx="3052837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Overall Performance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4842" y="1377479"/>
            <a:ext cx="3052837" cy="610642"/>
          </a:xfrm>
          <a:prstGeom prst="roundRect">
            <a:avLst>
              <a:gd name="adj" fmla="val 7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296" y="1484933"/>
            <a:ext cx="2837929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98.78%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2296" y="1730499"/>
            <a:ext cx="2837929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Test Accuracy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4842" y="2073176"/>
            <a:ext cx="3052837" cy="610642"/>
          </a:xfrm>
          <a:prstGeom prst="roundRect">
            <a:avLst>
              <a:gd name="adj" fmla="val 7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296" y="2180630"/>
            <a:ext cx="2837929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98.79%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2296" y="2426196"/>
            <a:ext cx="2837929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Precision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4842" y="2768873"/>
            <a:ext cx="3052837" cy="610642"/>
          </a:xfrm>
          <a:prstGeom prst="roundRect">
            <a:avLst>
              <a:gd name="adj" fmla="val 7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296" y="2876327"/>
            <a:ext cx="2837929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98.78%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2296" y="3121893"/>
            <a:ext cx="2837929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Recall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4842" y="3464570"/>
            <a:ext cx="3052837" cy="610642"/>
          </a:xfrm>
          <a:prstGeom prst="roundRect">
            <a:avLst>
              <a:gd name="adj" fmla="val 706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296" y="3572024"/>
            <a:ext cx="2837929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98.78%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2296" y="3817590"/>
            <a:ext cx="2837929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F1-Score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61792" y="1121271"/>
            <a:ext cx="4790777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Per-Class F1 Scores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61792" y="1428824"/>
            <a:ext cx="4291682" cy="128364"/>
          </a:xfrm>
          <a:prstGeom prst="roundRect">
            <a:avLst>
              <a:gd name="adj" fmla="val 3361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61792" y="1428824"/>
            <a:ext cx="4234160" cy="128364"/>
          </a:xfrm>
          <a:prstGeom prst="roundRect">
            <a:avLst>
              <a:gd name="adj" fmla="val 33611"/>
            </a:avLst>
          </a:prstGeom>
          <a:solidFill>
            <a:srgbClr val="1B1B27"/>
          </a:solidFill>
        </p:spPr>
      </p:sp>
      <p:sp>
        <p:nvSpPr>
          <p:cNvPr id="22" name="Text 20"/>
          <p:cNvSpPr/>
          <p:nvPr/>
        </p:nvSpPr>
        <p:spPr>
          <a:xfrm>
            <a:off x="8230493" y="1428750"/>
            <a:ext cx="422077" cy="1284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98.66%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61792" y="1672307"/>
            <a:ext cx="4790777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notdrowsy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61792" y="1917874"/>
            <a:ext cx="4790777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F1 = 0.9866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61792" y="2289497"/>
            <a:ext cx="4305746" cy="128364"/>
          </a:xfrm>
          <a:prstGeom prst="roundRect">
            <a:avLst>
              <a:gd name="adj" fmla="val 3361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1792" y="2289497"/>
            <a:ext cx="4296221" cy="128364"/>
          </a:xfrm>
          <a:prstGeom prst="roundRect">
            <a:avLst>
              <a:gd name="adj" fmla="val 33611"/>
            </a:avLst>
          </a:prstGeom>
          <a:solidFill>
            <a:srgbClr val="1B1B27"/>
          </a:solidFill>
        </p:spPr>
      </p:sp>
      <p:sp>
        <p:nvSpPr>
          <p:cNvPr id="27" name="Text 25"/>
          <p:cNvSpPr/>
          <p:nvPr/>
        </p:nvSpPr>
        <p:spPr>
          <a:xfrm>
            <a:off x="8244557" y="2289423"/>
            <a:ext cx="408012" cy="1284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99.78%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61792" y="2532980"/>
            <a:ext cx="4790777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sleepyCombination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61792" y="2778547"/>
            <a:ext cx="4790777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F1 = 0.9978 — highest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61792" y="3150171"/>
            <a:ext cx="4312965" cy="128364"/>
          </a:xfrm>
          <a:prstGeom prst="roundRect">
            <a:avLst>
              <a:gd name="adj" fmla="val 3361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61792" y="3150171"/>
            <a:ext cx="4230960" cy="128364"/>
          </a:xfrm>
          <a:prstGeom prst="roundRect">
            <a:avLst>
              <a:gd name="adj" fmla="val 33611"/>
            </a:avLst>
          </a:prstGeom>
          <a:solidFill>
            <a:srgbClr val="1B1B27"/>
          </a:solidFill>
        </p:spPr>
      </p:sp>
      <p:sp>
        <p:nvSpPr>
          <p:cNvPr id="32" name="Text 30"/>
          <p:cNvSpPr/>
          <p:nvPr/>
        </p:nvSpPr>
        <p:spPr>
          <a:xfrm>
            <a:off x="8251775" y="3150096"/>
            <a:ext cx="400794" cy="1284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98.10%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61792" y="3393653"/>
            <a:ext cx="4790777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slowBlinkWithNodding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61792" y="3639220"/>
            <a:ext cx="4790777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F1 = 0.9810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61792" y="4010844"/>
            <a:ext cx="4321076" cy="128364"/>
          </a:xfrm>
          <a:prstGeom prst="roundRect">
            <a:avLst>
              <a:gd name="adj" fmla="val 3361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61792" y="4010844"/>
            <a:ext cx="4231184" cy="128364"/>
          </a:xfrm>
          <a:prstGeom prst="roundRect">
            <a:avLst>
              <a:gd name="adj" fmla="val 33611"/>
            </a:avLst>
          </a:prstGeom>
          <a:solidFill>
            <a:srgbClr val="1B1B27"/>
          </a:solidFill>
        </p:spPr>
      </p:sp>
      <p:sp>
        <p:nvSpPr>
          <p:cNvPr id="37" name="Text 35"/>
          <p:cNvSpPr/>
          <p:nvPr/>
        </p:nvSpPr>
        <p:spPr>
          <a:xfrm>
            <a:off x="8259887" y="4010769"/>
            <a:ext cx="392683" cy="1284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97.92%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61792" y="4254326"/>
            <a:ext cx="4790777" cy="16051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yawning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61792" y="4499893"/>
            <a:ext cx="4790777" cy="1501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F1 = 0.9792 — weakest class, yet still high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3319"/>
            <a:ext cx="887909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70533" y="520526"/>
            <a:ext cx="1196280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04 — LIVE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21444"/>
            <a:ext cx="815176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End-to-End Live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19002"/>
            <a:ext cx="434727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Three-Step User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175237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627" y="1775631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9145" y="1795016"/>
            <a:ext cx="394424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9145" y="2112838"/>
            <a:ext cx="394424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Upload a driver face image in JPG or PNG format via the Streamlit web interface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75778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627" y="278104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9145" y="2800424"/>
            <a:ext cx="394424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Analyze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9145" y="3118247"/>
            <a:ext cx="394424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Model runs inference directly in the browser application — no server round-trip delay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76319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627" y="3786448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99145" y="3805833"/>
            <a:ext cx="394424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9145" y="4123655"/>
            <a:ext cx="394424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Receive the predicted status label, confidence score, and full per-class probability breakdown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50718" y="1419002"/>
            <a:ext cx="350185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Sample Analysis Result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0718" y="1752377"/>
            <a:ext cx="3501851" cy="103093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46129" y="1890638"/>
            <a:ext cx="588541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544" y="1935287"/>
            <a:ext cx="99194" cy="991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69297" y="1927845"/>
            <a:ext cx="290959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ALERT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346129" y="2128763"/>
            <a:ext cx="3168179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Confidence: 94.2%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46129" y="2446586"/>
            <a:ext cx="3168179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Driver classified as </a:t>
            </a:r>
            <a:r>
              <a:rPr lang="en-US" sz="9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notdrowsy</a:t>
            </a: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with high confidence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150718" y="2953792"/>
            <a:ext cx="3501851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26" name="Text 22"/>
          <p:cNvSpPr/>
          <p:nvPr/>
        </p:nvSpPr>
        <p:spPr>
          <a:xfrm>
            <a:off x="5150718" y="3138562"/>
            <a:ext cx="3501851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150718" y="3456384"/>
            <a:ext cx="3501851" cy="508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Public app hosted on </a:t>
            </a:r>
            <a:r>
              <a:rPr lang="en-US" sz="9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Streamlit Cloud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u="sng" dirty="0">
                <a:solidFill>
                  <a:srgbClr val="1B1B27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driver-drowsiness-detection-1997.streamlit.app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150718" y="4076551"/>
            <a:ext cx="3959051" cy="158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Model weights shipped via Git LFS · zero-install inference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0368"/>
            <a:ext cx="1655490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</p:spPr>
      </p:sp>
      <p:sp>
        <p:nvSpPr>
          <p:cNvPr id="3" name="Text 1"/>
          <p:cNvSpPr/>
          <p:nvPr/>
        </p:nvSpPr>
        <p:spPr>
          <a:xfrm>
            <a:off x="570533" y="717575"/>
            <a:ext cx="1963862" cy="1141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05 — LIMITATIONS &amp; NEXT STEPS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18493"/>
            <a:ext cx="8151763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Honest Limitations &amp; 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492076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FCF2B5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1671861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1647006"/>
            <a:ext cx="762483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Dataset &amp; Split Limitation:</a:t>
            </a:r>
            <a:r>
              <a:rPr lang="en-US" sz="9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The split is per-frame, and the model is tuned to NTHU-DDD near-infrared imagery. Ordinary phone photos are out-of-distribution and can be misclassified. This is an educational demo — not intended for real safety-critical decisions.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2372544"/>
            <a:ext cx="81517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Roadmap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752427"/>
            <a:ext cx="2634555" cy="1710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20379" y="283406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1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34380" y="3262759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Subject-Independent Split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34380" y="3531022"/>
            <a:ext cx="2358033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Evaluate on entirely unseen drivers using a driver-based or leave-one-subject-out protocol to measure true generalization beyond per-frame splitting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2752427"/>
            <a:ext cx="2634630" cy="1710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78908" y="283406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392909" y="3262759"/>
            <a:ext cx="235810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Face-Crop Front-End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92909" y="3531022"/>
            <a:ext cx="2358107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Integrate a face detection and cropping module so that everyday phone photos are automatically aligned to match the training data distribution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2752427"/>
            <a:ext cx="2634555" cy="17107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37512" y="2834060"/>
            <a:ext cx="186035" cy="2325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151513" y="3262759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Recall-Focused Tuning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51513" y="3531022"/>
            <a:ext cx="2358033" cy="79384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Re-weight the loss or adjust decision thresholds to maximize recall on drowsy classes — prioritizing safety by minimizing missed detections in operational settings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8825"/>
            <a:ext cx="8151763" cy="3815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980703"/>
            <a:ext cx="86089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Driver Drowsiness Detection · EfficientNetB0 + FastKAN · Capstone Project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340272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08236" y="1520279"/>
            <a:ext cx="4102745" cy="2974032"/>
          </a:xfrm>
          <a:prstGeom prst="roundRect">
            <a:avLst>
              <a:gd name="adj" fmla="val 2956"/>
            </a:avLst>
          </a:prstGeom>
          <a:solidFill>
            <a:srgbClr val="16A34A">
              <a:alpha val="9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30275" y="1640458"/>
            <a:ext cx="3858667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275" y="1951360"/>
            <a:ext cx="431586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u="sng" dirty="0">
                <a:solidFill>
                  <a:srgbClr val="1B1B27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driver-drowsiness-detection-1997.streamlit.app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275" y="2310929"/>
            <a:ext cx="3858667" cy="14288"/>
          </a:xfrm>
          <a:prstGeom prst="roundRect">
            <a:avLst>
              <a:gd name="adj" fmla="val 49998"/>
            </a:avLst>
          </a:prstGeom>
          <a:solidFill>
            <a:srgbClr val="000000">
              <a:alpha val="5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30275" y="2490936"/>
            <a:ext cx="3858667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275" y="2801838"/>
            <a:ext cx="431586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b="1" u="sng" dirty="0">
                <a:solidFill>
                  <a:srgbClr val="1B1B27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github.com/Odamov490/driver-drowsiness-detection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25665" y="1640458"/>
            <a:ext cx="3926979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5665" y="1966392"/>
            <a:ext cx="1903363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2467" y="2093193"/>
            <a:ext cx="1649760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98.78%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2467" y="2404095"/>
            <a:ext cx="164976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49207" y="1966392"/>
            <a:ext cx="1903437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008" y="2093193"/>
            <a:ext cx="1649834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98.78%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76008" y="2404095"/>
            <a:ext cx="1649834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F1-Score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25665" y="2844924"/>
            <a:ext cx="1903363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2467" y="2971726"/>
            <a:ext cx="1649760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66,521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52467" y="3282628"/>
            <a:ext cx="164976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Training Images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49207" y="2844924"/>
            <a:ext cx="1903437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008" y="2971726"/>
            <a:ext cx="1649834" cy="1907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anose="020B0503030101060003" pitchFamily="34" charset="0"/>
                <a:ea typeface="Raleway" panose="020B0503030101060003" pitchFamily="34" charset="-122"/>
                <a:cs typeface="Raleway" panose="020B0503030101060003" pitchFamily="34" charset="-120"/>
              </a:rPr>
              <a:t>4 Classes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008" y="3282628"/>
            <a:ext cx="1649834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Alertness States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5665" y="3768998"/>
            <a:ext cx="3926979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908798" y="4057129"/>
            <a:ext cx="420104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Questions welcome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5665" y="3949005"/>
            <a:ext cx="14288" cy="410096"/>
          </a:xfrm>
          <a:prstGeom prst="roundRect">
            <a:avLst>
              <a:gd name="adj" fmla="val 49998"/>
            </a:avLst>
          </a:prstGeom>
          <a:solidFill>
            <a:srgbClr val="1B1B27"/>
          </a:solidFill>
        </p:spPr>
      </p:sp>
      <p:sp>
        <p:nvSpPr>
          <p:cNvPr id="27" name="Text 25"/>
          <p:cNvSpPr/>
          <p:nvPr/>
        </p:nvSpPr>
        <p:spPr>
          <a:xfrm>
            <a:off x="267519" y="4629522"/>
            <a:ext cx="8608963" cy="1550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Gulomjon Odamov · Computer Vision Capstone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3735</Words>
  <Application>WPS Presentation</Application>
  <PresentationFormat>On-screen Show (16:9)</PresentationFormat>
  <Paragraphs>250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Raleway</vt:lpstr>
      <vt:lpstr>Raleway</vt:lpstr>
      <vt:lpstr>Raleway</vt:lpstr>
      <vt:lpstr>Roboto</vt:lpstr>
      <vt:lpstr>Roboto</vt:lpstr>
      <vt:lpstr>Roboto</vt:lpstr>
      <vt:lpstr>Roboto Bold</vt:lpstr>
      <vt:lpstr>Roboto Bold</vt:lpstr>
      <vt:lpstr>Roboto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G'ulomjon Odamov</cp:lastModifiedBy>
  <cp:revision>2</cp:revision>
  <dcterms:created xsi:type="dcterms:W3CDTF">2026-08-16T07:47:00Z</dcterms:created>
  <dcterms:modified xsi:type="dcterms:W3CDTF">2026-08-16T07:48:21Z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9C6A281117F84C3CBF43A17C34A5C6E4_13</vt:lpwstr>
  </property>
  <property fmtid="{D5CDD505-2E9C-101B-9397-08002B2CF9AE}" pid="3" name="KSOProductBuildVer">
    <vt:lpwstr>1033-12.1.0.28032</vt:lpwstr>
  </property>
</Properties>
</file>